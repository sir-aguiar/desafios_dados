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Bom dia a todos os membros da banca. Hoje apresentamos a solução da nossa equipe para a plataforma de conteúdos educacionais. Nosso desafio principal não foi apenas construir um pipeline que funcionasse tecnicamente, mas responder a uma dor crítica de qualquer edtech: como transformar dados brutos de navegação em decisões pedagógicas concretas para combater a evasão de alunos. Nossa arquitetura conecta fontes multimodais em CSV e JSON, passa por um armazenamento híbrido no PostgreSQL e MongoDB, utiliza representações vetoriais com pgvector para inteligência semântica e entrega os resultados mastigados em um dashboard analítico no Apache Superset. Vamos ver como esses dados se comportaram na prática.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Começando pela base de tudo: a confiabilidade da ingestão. Processamos três mil registros no total, mil de cada fonte, e aplicamos regras rigorosas de saneamento antes de qualquer gravação. O catálogo de conteúdos chegou perfeito: mil itens lidos, zero correções necessárias. Já nas interações dos estudantes, 35,6% dos registros precisaram de tratamento de valores nulos e normalização de percentuais. Nos comentários em MongoDB, 83,7% passaram por higienização de strings e validação de notas. O grande diferencial de engenharia da nossa equipe foi garantir 100% de conformidade operacional final com zero descarte de linhas. Nenhum dado foi varrido para debaixo do tapete: tudo foi validado, corrigido e integrado com rastreabilidade.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 busca e recomendação, geramos vetores de 384 dimensões utilizando o modelo MiniLM-L6-v2 integrado nativamente ao PostgreSQL via extensão pgvector. Validamos que a busca semântica responde com altíssima precisão quando a intenção do aluno é clara: para uma consulta como 'Python avançado com POO', atingimos similaridade de 0,84 no topo do ranking. Para termos mais amplos, como 'Fundamentos de banco para IA', a similaridade fica em torno de 0,66, refletindo com precisão a dispersão do tema. Nosso motor de recomendação combina histórico de visualização e curtida com uma trava obrigatória: conteúdos já concluídos têm pontuação zerada automaticamente. Avaliamos mais de 38 mil pares possíveis de usuário e conteúdo, e o motor foi cirúrgico: persistiu apenas 744 recomendações — uma taxa de seletividade de 1,96% —, sendo que mais de 78% dessas sugestões são de altíssima afinidade, com pontuação superior a 70 pontos.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Entrando agora no coração do nosso projeto: o que esses números realmente nos dizem sobre o negócio no nosso Dashboard do Superset? Temos uma base ativa de 150 alunos interagindo com mil conteúdos. À primeira vista, o cenário parece dos sonhos: a avaliação média global é de 4,48 estrelas em 5. Os estudantes que avaliam o catálogo atribuem notas de excelência. Porém, ao cruzar esse dado com a conclusão, encontramos o grande paradoxo da plataforma: a taxa de conclusão global é de apenas 28,62%. Foram 154 conclusões para mais de 530 materiais iniciados ou visualizados, com um tempo médio de consumo de cerca de 145 minutos. A pergunta que fizemos aos dados foi: se o conteúdo é tão bem avaliado, por que menos de um terço dos alunos chega até o fim? Fomos investigar onde está esse atrito.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Nossa primeira hipótese foi: será que algumas áreas do conhecimento são rejeitadas pelos alunos? Olhamos para o gráfico de barras por categoria. Vejam o contraste: DevOps &amp; Cloud é o nosso campeão de engajamento prático, atingindo 42,6% de taxa de conclusão com 141 interações. Logo ao lado, Business Intelligence lidera o volume bruto com 144 interações. Por outro lado, encontramos um abismo em Segurança &amp; Governança: a taxa de término cai para alarmantes 13,16%, mesmo sendo a categoria com maior tempo médio gasto por aluno — quase 195 minutos. E aqui está a chave: em Segurança, a nota média é altíssima: 4,68 estrelas! E Engenharia de Dados lidera a satisfação com 4,75. Isso prova tecnicamente que o aluno não abandona por falta de interesse no tema. O problema é a forma como o conteúdo está empacotado.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Quando cruzamos Categoria com Formato Didático, encontramos a resposta definitiva — este é o insight mais forte de todo o projeto. O conteúdo com maior taxa de término absoluto de todo o dataset é Podcast em Programação &amp; Software, com 61,54% de conclusão. Os alunos escutam os 28 minutos médios de áudio e concluem o aprendizado com nota 4,27. No extremo oposto, o pior gargalo de toda a plataforma é Vídeo em Segurança &amp; Governança, onde a conclusão despenca para meros 6,67%. Olhando a visão geral de formatos, o padrão é irrefutável: Vídeos e Podcasts sustentam taxas médias de 29% a 34% de conclusão, porque exigem cerca de 30 minutos de atenção. Já os Cursos Longos tradicionais têm a pior retenção média da plataforma, com apenas 23,1%, exigindo mais de 560 minutos. A recomendação executiva para a diretoria pedagógica é clara: não criem cursos monolíticos de 10 horas. Quebrem esses temas em trilhas de microlearning com vídeos curtos e podcasts temáticos.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gráfico temporal de linhas do Superset, mapeamos 234 dias de consumo contínuo durante o ano letivo. Identificamos uma média saudável de 4,3 interações diárias. No entanto, o aprendizado não acontece em fluxo estritamente uniforme: temos picos expressivos que chegam a 7, 10 e até 12 interações em um único dia. Ao correlacionar esses picos com o calendário, percebemos que eles coincidem exatamente com semanas de encerramento de ciclos e lançamentos de materiais novos. O aluno reage fortemente a estímulos de novidade e prazos bem definidos, o que valida o uso de campanhas periódicas de reengajamento.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em qualquer projeto de engenharia de dados em produção, enfrentamos desafios técnicos reais que nos exigiram senso crítico. No Superset, por exemplo, ao tentar plotar os gráficos de barras por categoria, a ferramenta exigia uma coluna temporal obrigatória porque estava configurada como série temporal. Diagnosticamos que o componente adequado para dados categóricos sem data é o dist_bar, reestruturando o payload e restabelecendo o painel com sucesso. Em relação ao uso de Inteligência Artificial, utilizamos o modelo Gemini como parceiro de pair programming para acelerar a escrita das visões SQL e scripts de automação. Mas como rege a boa prática de engenharia, 100% dos cálculos, agrupamentos com NULLIF e métricas foram auditados e recalculados pela equipe contra o PostgreSQL, garantindo total integridade das fórmulas.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concluir, entregamos três ações estratégicas imediatas para a liderança da instituição: Primeira: Priorizar a produção de vídeos práticos e podcasts nas áreas de maior tração, como DevOps e Programação, que já provaram reter mais de 60% dos estudantes. Segunda: Intervir urgentemente nos materiais de Segurança &amp; Governança, substituindo vídeos longos e monótonos por estudos de caso fragmentados. E terceira: Ativar em produção o motor de recomendação vetorial, que com seus 78% de precisão positiva consegue sugerir o próximo passo ideal antes que o aluno evada. A plataforma está 100% conteinerizada, documentada e com o dashboard operando em tempo real. Estamos prontos para as perguntas da banca. Muito obrigado.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8088/superset/dashboard/1/" TargetMode="External"/><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8088/superset/dashboard/1/" TargetMode="External"/><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1 DE 9 • VISÃO GERAL (~35S)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Pipeline de Recomendação e Dashboard Educacional</a:t>
            </a:r>
          </a:p>
        </p:txBody>
      </p:sp>
      <p:sp>
        <p:nvSpPr>
          <p:cNvPr id="5" name="Rounded Rectangle 4"/>
          <p:cNvSpPr/>
          <p:nvPr/>
        </p:nvSpPr>
        <p:spPr>
          <a:xfrm>
            <a:off x="731520" y="1463040"/>
            <a:ext cx="3291840" cy="1920240"/>
          </a:xfrm>
          <a:prstGeom prst="round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200" b="1">
                <a:solidFill>
                  <a:srgbClr val="F8FAFC"/>
                </a:solidFill>
                <a:latin typeface="Arial"/>
              </a:defRPr>
            </a:pPr>
            <a:r>
              <a:t>Evasão Discente</a:t>
            </a:r>
          </a:p>
          <a:p>
            <a:pPr>
              <a:defRPr sz="1050" b="1">
                <a:solidFill>
                  <a:srgbClr val="F59E0B"/>
                </a:solidFill>
                <a:latin typeface="Arial"/>
              </a:defRPr>
            </a:pPr>
            <a:r>
              <a:t>Problema Central de Negócio</a:t>
            </a:r>
          </a:p>
          <a:p>
            <a:pPr>
              <a:defRPr sz="850">
                <a:solidFill>
                  <a:srgbClr val="94A3B8"/>
                </a:solidFill>
                <a:latin typeface="Arial"/>
              </a:defRPr>
            </a:pPr>
            <a:r>
              <a:t>Plataforma multiformato com alto volume de dados, mas baixa visibilidade de conclusão.</a:t>
            </a:r>
          </a:p>
        </p:txBody>
      </p:sp>
      <p:sp>
        <p:nvSpPr>
          <p:cNvPr id="6" name="Rounded Rectangle 5"/>
          <p:cNvSpPr/>
          <p:nvPr/>
        </p:nvSpPr>
        <p:spPr>
          <a:xfrm>
            <a:off x="4389120" y="1463040"/>
            <a:ext cx="3291840" cy="1920240"/>
          </a:xfrm>
          <a:prstGeom prst="roundRect">
            <a:avLst/>
          </a:prstGeom>
          <a:solidFill>
            <a:srgbClr val="1A2035"/>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200" b="1">
                <a:solidFill>
                  <a:srgbClr val="F8FAFC"/>
                </a:solidFill>
                <a:latin typeface="Arial"/>
              </a:defRPr>
            </a:pPr>
            <a:r>
              <a:t>Híbrida &amp; Vetorial</a:t>
            </a:r>
          </a:p>
          <a:p>
            <a:pPr>
              <a:defRPr sz="1050" b="1">
                <a:solidFill>
                  <a:srgbClr val="6366F1"/>
                </a:solidFill>
                <a:latin typeface="Arial"/>
              </a:defRPr>
            </a:pPr>
            <a:r>
              <a:t>Arquitetura Ponta a Ponta</a:t>
            </a:r>
          </a:p>
          <a:p>
            <a:pPr>
              <a:defRPr sz="850">
                <a:solidFill>
                  <a:srgbClr val="94A3B8"/>
                </a:solidFill>
                <a:latin typeface="Arial"/>
              </a:defRPr>
            </a:pPr>
            <a:r>
              <a:t>PostgreSQL + pgvector (384d) e MongoDB (NoSQL) orquestrados em Docker.</a:t>
            </a:r>
          </a:p>
        </p:txBody>
      </p:sp>
      <p:sp>
        <p:nvSpPr>
          <p:cNvPr id="7" name="Rounded Rectangle 6"/>
          <p:cNvSpPr/>
          <p:nvPr/>
        </p:nvSpPr>
        <p:spPr>
          <a:xfrm>
            <a:off x="8046720" y="1463040"/>
            <a:ext cx="3291840" cy="192024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200" b="1">
                <a:solidFill>
                  <a:srgbClr val="F8FAFC"/>
                </a:solidFill>
                <a:latin typeface="Arial"/>
              </a:defRPr>
            </a:pPr>
            <a:r>
              <a:t>Apache Superset</a:t>
            </a:r>
          </a:p>
          <a:p>
            <a:pPr>
              <a:defRPr sz="1050" b="1">
                <a:solidFill>
                  <a:srgbClr val="10B981"/>
                </a:solidFill>
                <a:latin typeface="Arial"/>
              </a:defRPr>
            </a:pPr>
            <a:r>
              <a:t>Entrega Visual Executiva</a:t>
            </a:r>
          </a:p>
          <a:p>
            <a:pPr>
              <a:defRPr sz="850">
                <a:solidFill>
                  <a:srgbClr val="94A3B8"/>
                </a:solidFill>
                <a:latin typeface="Arial"/>
              </a:defRPr>
            </a:pPr>
            <a:r>
              <a:t>10 visões analíticas em tempo real transformando 3.000 registros em planos de ação.</a:t>
            </a:r>
          </a:p>
        </p:txBody>
      </p:sp>
      <p:sp>
        <p:nvSpPr>
          <p:cNvPr id="8" name="TextBox 7"/>
          <p:cNvSpPr txBox="1"/>
          <p:nvPr/>
        </p:nvSpPr>
        <p:spPr>
          <a:xfrm>
            <a:off x="731520" y="3749039"/>
            <a:ext cx="10607040" cy="2194560"/>
          </a:xfrm>
          <a:prstGeom prst="rect">
            <a:avLst/>
          </a:prstGeom>
          <a:noFill/>
        </p:spPr>
        <p:txBody>
          <a:bodyPr wrap="square">
            <a:spAutoFit/>
          </a:bodyPr>
          <a:lstStyle/>
          <a:p>
            <a:pPr>
              <a:defRPr sz="1400">
                <a:solidFill>
                  <a:srgbClr val="F8FAFC"/>
                </a:solidFill>
              </a:defRPr>
            </a:pPr>
            <a:r>
              <a:t>• Desafio Estratégico: Alunos avaliam o catálogo com notas de excelência, mas abandonam trilhas teóricas no meio do caminho.</a:t>
            </a:r>
          </a:p>
          <a:p>
            <a:pPr>
              <a:defRPr sz="1400">
                <a:solidFill>
                  <a:srgbClr val="F8FAFC"/>
                </a:solidFill>
              </a:defRPr>
            </a:pPr>
            <a:r>
              <a:t>• Solução Integrada: Da ingestão com 100% de integridade ao motor preditivo vetorial e painel interativo no Superset.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2 DE 9 • GOVERNANÇA DE DADOS (~55S)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Qualidade e Confiabilidade na Ingestão (RF12 / KPI 3)</a:t>
            </a:r>
          </a:p>
        </p:txBody>
      </p:sp>
      <p:sp>
        <p:nvSpPr>
          <p:cNvPr id="5" name="Rounded Rectangle 4"/>
          <p:cNvSpPr/>
          <p:nvPr/>
        </p:nvSpPr>
        <p:spPr>
          <a:xfrm>
            <a:off x="731520" y="1463040"/>
            <a:ext cx="3291840" cy="1645920"/>
          </a:xfrm>
          <a:prstGeom prst="roundRect">
            <a:avLst/>
          </a:prstGeom>
          <a:solidFill>
            <a:srgbClr val="1A20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400" b="1">
                <a:solidFill>
                  <a:srgbClr val="F8FAFC"/>
                </a:solidFill>
                <a:latin typeface="Arial"/>
              </a:defRPr>
            </a:pPr>
            <a:r>
              <a:t>0,0%</a:t>
            </a:r>
          </a:p>
          <a:p>
            <a:pPr>
              <a:defRPr sz="1050" b="1">
                <a:solidFill>
                  <a:srgbClr val="38BDF8"/>
                </a:solidFill>
                <a:latin typeface="Arial"/>
              </a:defRPr>
            </a:pPr>
            <a:r>
              <a:t>Catálogo de Conteúdos</a:t>
            </a:r>
          </a:p>
          <a:p>
            <a:pPr>
              <a:defRPr sz="850">
                <a:solidFill>
                  <a:srgbClr val="94A3B8"/>
                </a:solidFill>
                <a:latin typeface="Arial"/>
              </a:defRPr>
            </a:pPr>
            <a:r>
              <a:t>1.000 lidos • 0 correções (100% íntegro na origem)</a:t>
            </a:r>
          </a:p>
        </p:txBody>
      </p:sp>
      <p:sp>
        <p:nvSpPr>
          <p:cNvPr id="6" name="Rounded Rectangle 5"/>
          <p:cNvSpPr/>
          <p:nvPr/>
        </p:nvSpPr>
        <p:spPr>
          <a:xfrm>
            <a:off x="4389120" y="1463040"/>
            <a:ext cx="3291840" cy="164592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400" b="1">
                <a:solidFill>
                  <a:srgbClr val="F8FAFC"/>
                </a:solidFill>
                <a:latin typeface="Arial"/>
              </a:defRPr>
            </a:pPr>
            <a:r>
              <a:t>35,6%</a:t>
            </a:r>
          </a:p>
          <a:p>
            <a:pPr>
              <a:defRPr sz="1050" b="1">
                <a:solidFill>
                  <a:srgbClr val="10B981"/>
                </a:solidFill>
                <a:latin typeface="Arial"/>
              </a:defRPr>
            </a:pPr>
            <a:r>
              <a:t>Interações dos Alunos</a:t>
            </a:r>
          </a:p>
          <a:p>
            <a:pPr>
              <a:defRPr sz="850">
                <a:solidFill>
                  <a:srgbClr val="94A3B8"/>
                </a:solidFill>
                <a:latin typeface="Arial"/>
              </a:defRPr>
            </a:pPr>
            <a:r>
              <a:t>1.000 lidos • 356 corrigidos (nulos e percentuais)</a:t>
            </a:r>
          </a:p>
        </p:txBody>
      </p:sp>
      <p:sp>
        <p:nvSpPr>
          <p:cNvPr id="7" name="Rounded Rectangle 6"/>
          <p:cNvSpPr/>
          <p:nvPr/>
        </p:nvSpPr>
        <p:spPr>
          <a:xfrm>
            <a:off x="8046720" y="1463040"/>
            <a:ext cx="3291840" cy="1645920"/>
          </a:xfrm>
          <a:prstGeom prst="roundRect">
            <a:avLst/>
          </a:prstGeom>
          <a:solidFill>
            <a:srgbClr val="1A2035"/>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400" b="1">
                <a:solidFill>
                  <a:srgbClr val="F8FAFC"/>
                </a:solidFill>
                <a:latin typeface="Arial"/>
              </a:defRPr>
            </a:pPr>
            <a:r>
              <a:t>83,7%</a:t>
            </a:r>
          </a:p>
          <a:p>
            <a:pPr>
              <a:defRPr sz="1050" b="1">
                <a:solidFill>
                  <a:srgbClr val="6366F1"/>
                </a:solidFill>
                <a:latin typeface="Arial"/>
              </a:defRPr>
            </a:pPr>
            <a:r>
              <a:t>Comentários (MongoDB)</a:t>
            </a:r>
          </a:p>
          <a:p>
            <a:pPr>
              <a:defRPr sz="850">
                <a:solidFill>
                  <a:srgbClr val="94A3B8"/>
                </a:solidFill>
                <a:latin typeface="Arial"/>
              </a:defRPr>
            </a:pPr>
            <a:r>
              <a:t>1.000 lidos • 837 sanitizados (strings e notas)</a:t>
            </a:r>
          </a:p>
        </p:txBody>
      </p:sp>
      <p:sp>
        <p:nvSpPr>
          <p:cNvPr id="8" name="Rounded Rectangle 7"/>
          <p:cNvSpPr/>
          <p:nvPr/>
        </p:nvSpPr>
        <p:spPr>
          <a:xfrm>
            <a:off x="731520" y="3474720"/>
            <a:ext cx="10607040" cy="237744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100% de Conformidade Operacional Final</a:t>
            </a:r>
          </a:p>
          <a:p>
            <a:pPr>
              <a:defRPr sz="1050" b="1">
                <a:solidFill>
                  <a:srgbClr val="10B981"/>
                </a:solidFill>
                <a:latin typeface="Arial"/>
              </a:defRPr>
            </a:pPr>
            <a:r>
              <a:t>Zero Descarte de Registros</a:t>
            </a:r>
          </a:p>
          <a:p>
            <a:pPr>
              <a:defRPr sz="850">
                <a:solidFill>
                  <a:srgbClr val="94A3B8"/>
                </a:solidFill>
                <a:latin typeface="Arial"/>
              </a:defRPr>
            </a:pPr>
            <a:r>
              <a:t>Nenhum dado do estudante foi eliminado. O pipeline aplicou regras de validação defensiva em camadas:</a:t>
            </a:r>
            <a:br/>
            <a:r>
              <a:t>• Catálogo: Normalização semântica de categorias e padronização de carga horária.</a:t>
            </a:r>
            <a:br/>
            <a:r>
              <a:t>• Interações: Imputação determinística de percentuais de conclusão faltantes baseados no tipo de evento.</a:t>
            </a:r>
            <a:br/>
            <a:r>
              <a:t>• Comentários: Limpeza de espaços em branco, formatação de tags opcionais e conversão estrita de escalas 1-5 no MongoDB.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3 DE 9 • IA VETORIAL (~60S)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Inteligência Semântica e Motor de Recomendação</a:t>
            </a:r>
          </a:p>
        </p:txBody>
      </p:sp>
      <p:sp>
        <p:nvSpPr>
          <p:cNvPr id="5" name="Rounded Rectangle 4"/>
          <p:cNvSpPr/>
          <p:nvPr/>
        </p:nvSpPr>
        <p:spPr>
          <a:xfrm>
            <a:off x="731520" y="1371600"/>
            <a:ext cx="2468880" cy="1234440"/>
          </a:xfrm>
          <a:prstGeom prst="roundRect">
            <a:avLst/>
          </a:prstGeom>
          <a:solidFill>
            <a:srgbClr val="1A20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0,84</a:t>
            </a:r>
          </a:p>
          <a:p>
            <a:pPr>
              <a:defRPr sz="1050" b="1">
                <a:solidFill>
                  <a:srgbClr val="38BDF8"/>
                </a:solidFill>
                <a:latin typeface="Arial"/>
              </a:defRPr>
            </a:pPr>
            <a:r>
              <a:t>Busca Específica</a:t>
            </a:r>
          </a:p>
          <a:p>
            <a:pPr>
              <a:defRPr sz="850">
                <a:solidFill>
                  <a:srgbClr val="94A3B8"/>
                </a:solidFill>
                <a:latin typeface="Arial"/>
              </a:defRPr>
            </a:pPr>
            <a:r>
              <a:t>'Python avançado com POO' (pgvector)</a:t>
            </a:r>
          </a:p>
        </p:txBody>
      </p:sp>
      <p:sp>
        <p:nvSpPr>
          <p:cNvPr id="6" name="Rounded Rectangle 5"/>
          <p:cNvSpPr/>
          <p:nvPr/>
        </p:nvSpPr>
        <p:spPr>
          <a:xfrm>
            <a:off x="3383280" y="1371600"/>
            <a:ext cx="2468880" cy="1234440"/>
          </a:xfrm>
          <a:prstGeom prst="roundRect">
            <a:avLst/>
          </a:prstGeom>
          <a:solidFill>
            <a:srgbClr val="1A20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0,66</a:t>
            </a:r>
          </a:p>
          <a:p>
            <a:pPr>
              <a:defRPr sz="1050" b="1">
                <a:solidFill>
                  <a:srgbClr val="38BDF8"/>
                </a:solidFill>
                <a:latin typeface="Arial"/>
              </a:defRPr>
            </a:pPr>
            <a:r>
              <a:t>Busca Ampla</a:t>
            </a:r>
          </a:p>
          <a:p>
            <a:pPr>
              <a:defRPr sz="850">
                <a:solidFill>
                  <a:srgbClr val="94A3B8"/>
                </a:solidFill>
                <a:latin typeface="Arial"/>
              </a:defRPr>
            </a:pPr>
            <a:r>
              <a:t>'Fundamentos de banco para IA'</a:t>
            </a:r>
          </a:p>
        </p:txBody>
      </p:sp>
      <p:sp>
        <p:nvSpPr>
          <p:cNvPr id="7" name="Rounded Rectangle 6"/>
          <p:cNvSpPr/>
          <p:nvPr/>
        </p:nvSpPr>
        <p:spPr>
          <a:xfrm>
            <a:off x="6035040" y="1371600"/>
            <a:ext cx="2468880" cy="123444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78,09%</a:t>
            </a:r>
          </a:p>
          <a:p>
            <a:pPr>
              <a:defRPr sz="1050" b="1">
                <a:solidFill>
                  <a:srgbClr val="10B981"/>
                </a:solidFill>
                <a:latin typeface="Arial"/>
              </a:defRPr>
            </a:pPr>
            <a:r>
              <a:t>Alta Afinidade</a:t>
            </a:r>
          </a:p>
          <a:p>
            <a:pPr>
              <a:defRPr sz="850">
                <a:solidFill>
                  <a:srgbClr val="94A3B8"/>
                </a:solidFill>
                <a:latin typeface="Arial"/>
              </a:defRPr>
            </a:pPr>
            <a:r>
              <a:t>581 recomendações (score &gt;= 70)</a:t>
            </a:r>
          </a:p>
        </p:txBody>
      </p:sp>
      <p:sp>
        <p:nvSpPr>
          <p:cNvPr id="8" name="Rounded Rectangle 7"/>
          <p:cNvSpPr/>
          <p:nvPr/>
        </p:nvSpPr>
        <p:spPr>
          <a:xfrm>
            <a:off x="8686800" y="1371600"/>
            <a:ext cx="2651760" cy="1234440"/>
          </a:xfrm>
          <a:prstGeom prst="roundRect">
            <a:avLst/>
          </a:prstGeom>
          <a:solidFill>
            <a:srgbClr val="1A2035"/>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1,96%</a:t>
            </a:r>
          </a:p>
          <a:p>
            <a:pPr>
              <a:defRPr sz="1050" b="1">
                <a:solidFill>
                  <a:srgbClr val="6366F1"/>
                </a:solidFill>
                <a:latin typeface="Arial"/>
              </a:defRPr>
            </a:pPr>
            <a:r>
              <a:t>Seletividade</a:t>
            </a:r>
          </a:p>
          <a:p>
            <a:pPr>
              <a:defRPr sz="850">
                <a:solidFill>
                  <a:srgbClr val="94A3B8"/>
                </a:solidFill>
                <a:latin typeface="Arial"/>
              </a:defRPr>
            </a:pPr>
            <a:r>
              <a:t>744 selecionadas de 38.007 pares</a:t>
            </a:r>
          </a:p>
        </p:txBody>
      </p:sp>
      <p:sp>
        <p:nvSpPr>
          <p:cNvPr id="9" name="Rounded Rectangle 8"/>
          <p:cNvSpPr/>
          <p:nvPr/>
        </p:nvSpPr>
        <p:spPr>
          <a:xfrm>
            <a:off x="2393338" y="2761488"/>
            <a:ext cx="7374842" cy="3666744"/>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afico_recomendacoes.png"/>
          <p:cNvPicPr>
            <a:picLocks noChangeAspect="1"/>
          </p:cNvPicPr>
          <p:nvPr/>
        </p:nvPicPr>
        <p:blipFill>
          <a:blip r:embed="rId2"/>
          <a:stretch>
            <a:fillRect/>
          </a:stretch>
        </p:blipFill>
        <p:spPr>
          <a:xfrm>
            <a:off x="2420770" y="2788920"/>
            <a:ext cx="7319978" cy="36118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4 DE 9 • DASHBOARD: DIAGNÓSTICO (~60S)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Painel Executivo Superset: O Paradoxo do Negócio</a:t>
            </a:r>
          </a:p>
        </p:txBody>
      </p:sp>
      <p:sp>
        <p:nvSpPr>
          <p:cNvPr id="5" name="Rounded Rectangle 4"/>
          <p:cNvSpPr/>
          <p:nvPr/>
        </p:nvSpPr>
        <p:spPr>
          <a:xfrm>
            <a:off x="731520" y="1325880"/>
            <a:ext cx="1965960" cy="1097280"/>
          </a:xfrm>
          <a:prstGeom prst="roundRect">
            <a:avLst/>
          </a:prstGeom>
          <a:solidFill>
            <a:srgbClr val="1A20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1900" b="1">
                <a:solidFill>
                  <a:srgbClr val="F8FAFC"/>
                </a:solidFill>
                <a:latin typeface="Arial"/>
              </a:defRPr>
            </a:pPr>
            <a:r>
              <a:t>150</a:t>
            </a:r>
          </a:p>
          <a:p>
            <a:pPr>
              <a:defRPr sz="1050" b="1">
                <a:solidFill>
                  <a:srgbClr val="38BDF8"/>
                </a:solidFill>
                <a:latin typeface="Arial"/>
              </a:defRPr>
            </a:pPr>
            <a:r>
              <a:t>Usuários Ativos</a:t>
            </a:r>
          </a:p>
          <a:p>
            <a:pPr>
              <a:defRPr sz="850">
                <a:solidFill>
                  <a:srgbClr val="94A3B8"/>
                </a:solidFill>
                <a:latin typeface="Arial"/>
              </a:defRPr>
            </a:pPr>
            <a:r>
              <a:t>Discentes com interações</a:t>
            </a:r>
          </a:p>
        </p:txBody>
      </p:sp>
      <p:sp>
        <p:nvSpPr>
          <p:cNvPr id="6" name="Rounded Rectangle 5"/>
          <p:cNvSpPr/>
          <p:nvPr/>
        </p:nvSpPr>
        <p:spPr>
          <a:xfrm>
            <a:off x="2880360" y="1325880"/>
            <a:ext cx="1965960" cy="109728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1900" b="1">
                <a:solidFill>
                  <a:srgbClr val="F8FAFC"/>
                </a:solidFill>
                <a:latin typeface="Arial"/>
              </a:defRPr>
            </a:pPr>
            <a:r>
              <a:t>4,48</a:t>
            </a:r>
          </a:p>
          <a:p>
            <a:pPr>
              <a:defRPr sz="1050" b="1">
                <a:solidFill>
                  <a:srgbClr val="10B981"/>
                </a:solidFill>
                <a:latin typeface="Arial"/>
              </a:defRPr>
            </a:pPr>
            <a:r>
              <a:t>Satisfação CSAT</a:t>
            </a:r>
          </a:p>
          <a:p>
            <a:pPr>
              <a:defRPr sz="850">
                <a:solidFill>
                  <a:srgbClr val="94A3B8"/>
                </a:solidFill>
                <a:latin typeface="Arial"/>
              </a:defRPr>
            </a:pPr>
            <a:r>
              <a:t>Escala de 1 a 5 estrelas</a:t>
            </a:r>
          </a:p>
        </p:txBody>
      </p:sp>
      <p:sp>
        <p:nvSpPr>
          <p:cNvPr id="7" name="Rounded Rectangle 6"/>
          <p:cNvSpPr/>
          <p:nvPr/>
        </p:nvSpPr>
        <p:spPr>
          <a:xfrm>
            <a:off x="5029200" y="1325880"/>
            <a:ext cx="1965960" cy="1097280"/>
          </a:xfrm>
          <a:prstGeom prst="round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1900" b="1">
                <a:solidFill>
                  <a:srgbClr val="F8FAFC"/>
                </a:solidFill>
                <a:latin typeface="Arial"/>
              </a:defRPr>
            </a:pPr>
            <a:r>
              <a:t>28,6%</a:t>
            </a:r>
          </a:p>
          <a:p>
            <a:pPr>
              <a:defRPr sz="1050" b="1">
                <a:solidFill>
                  <a:srgbClr val="F59E0B"/>
                </a:solidFill>
                <a:latin typeface="Arial"/>
              </a:defRPr>
            </a:pPr>
            <a:r>
              <a:t>Taxa Conclusão</a:t>
            </a:r>
          </a:p>
          <a:p>
            <a:pPr>
              <a:defRPr sz="850">
                <a:solidFill>
                  <a:srgbClr val="94A3B8"/>
                </a:solidFill>
                <a:latin typeface="Arial"/>
              </a:defRPr>
            </a:pPr>
            <a:r>
              <a:t>154 de 538 inícios/views</a:t>
            </a:r>
          </a:p>
        </p:txBody>
      </p:sp>
      <p:sp>
        <p:nvSpPr>
          <p:cNvPr id="8" name="Rounded Rectangle 7"/>
          <p:cNvSpPr/>
          <p:nvPr/>
        </p:nvSpPr>
        <p:spPr>
          <a:xfrm>
            <a:off x="7178040" y="1325880"/>
            <a:ext cx="1965960" cy="1097280"/>
          </a:xfrm>
          <a:prstGeom prst="roundRect">
            <a:avLst/>
          </a:prstGeom>
          <a:solidFill>
            <a:srgbClr val="1A2035"/>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1900" b="1">
                <a:solidFill>
                  <a:srgbClr val="F8FAFC"/>
                </a:solidFill>
                <a:latin typeface="Arial"/>
              </a:defRPr>
            </a:pPr>
            <a:r>
              <a:t>144,9 m</a:t>
            </a:r>
          </a:p>
          <a:p>
            <a:pPr>
              <a:defRPr sz="1050" b="1">
                <a:solidFill>
                  <a:srgbClr val="6366F1"/>
                </a:solidFill>
                <a:latin typeface="Arial"/>
              </a:defRPr>
            </a:pPr>
            <a:r>
              <a:t>Tempo Médio</a:t>
            </a:r>
          </a:p>
          <a:p>
            <a:pPr>
              <a:defRPr sz="850">
                <a:solidFill>
                  <a:srgbClr val="94A3B8"/>
                </a:solidFill>
                <a:latin typeface="Arial"/>
              </a:defRPr>
            </a:pPr>
            <a:r>
              <a:t>Média por conteúdo</a:t>
            </a:r>
          </a:p>
        </p:txBody>
      </p:sp>
      <p:sp>
        <p:nvSpPr>
          <p:cNvPr id="9" name="Rounded Rectangle 8"/>
          <p:cNvSpPr/>
          <p:nvPr/>
        </p:nvSpPr>
        <p:spPr>
          <a:xfrm>
            <a:off x="9326880" y="1325880"/>
            <a:ext cx="2057400" cy="109728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1900" b="1">
                <a:solidFill>
                  <a:srgbClr val="F8FAFC"/>
                </a:solidFill>
                <a:latin typeface="Arial"/>
              </a:defRPr>
            </a:pPr>
            <a:r>
              <a:t>78,1%</a:t>
            </a:r>
          </a:p>
          <a:p>
            <a:pPr>
              <a:defRPr sz="1050" b="1">
                <a:solidFill>
                  <a:srgbClr val="10B981"/>
                </a:solidFill>
                <a:latin typeface="Arial"/>
              </a:defRPr>
            </a:pPr>
            <a:r>
              <a:t>Afinidade IA</a:t>
            </a:r>
          </a:p>
          <a:p>
            <a:pPr>
              <a:defRPr sz="850">
                <a:solidFill>
                  <a:srgbClr val="94A3B8"/>
                </a:solidFill>
                <a:latin typeface="Arial"/>
              </a:defRPr>
            </a:pPr>
            <a:r>
              <a:t>Score &gt;= 70 no lote</a:t>
            </a:r>
          </a:p>
        </p:txBody>
      </p:sp>
      <p:sp>
        <p:nvSpPr>
          <p:cNvPr id="10" name="TextBox 9"/>
          <p:cNvSpPr txBox="1"/>
          <p:nvPr/>
        </p:nvSpPr>
        <p:spPr>
          <a:xfrm>
            <a:off x="731520" y="2487168"/>
            <a:ext cx="10698480" cy="320040"/>
          </a:xfrm>
          <a:prstGeom prst="rect">
            <a:avLst/>
          </a:prstGeom>
          <a:noFill/>
        </p:spPr>
        <p:txBody>
          <a:bodyPr wrap="none" tIns="0" bIns="0">
            <a:spAutoFit/>
          </a:bodyPr>
          <a:lstStyle/>
          <a:p>
            <a:r>
              <a:rPr sz="1050" b="1">
                <a:solidFill>
                  <a:srgbClr val="38BDF8"/>
                </a:solidFill>
                <a:latin typeface="Arial"/>
                <a:hlinkClick r:id="rId2"/>
              </a:rPr>
              <a:t>🚀 Acessar Apache Superset ao Vivo: http://localhost:8088/superset/dashboard/1/ (Login: admin / admin)</a:t>
            </a:r>
          </a:p>
        </p:txBody>
      </p:sp>
      <p:sp>
        <p:nvSpPr>
          <p:cNvPr id="11" name="Rounded Rectangle 10"/>
          <p:cNvSpPr/>
          <p:nvPr/>
        </p:nvSpPr>
        <p:spPr>
          <a:xfrm>
            <a:off x="2703618" y="2807208"/>
            <a:ext cx="6754283" cy="3666744"/>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shboard_geral.png"/>
          <p:cNvPicPr>
            <a:picLocks noChangeAspect="1"/>
          </p:cNvPicPr>
          <p:nvPr/>
        </p:nvPicPr>
        <p:blipFill>
          <a:blip r:embed="rId3"/>
          <a:stretch>
            <a:fillRect/>
          </a:stretch>
        </p:blipFill>
        <p:spPr>
          <a:xfrm>
            <a:off x="2731050" y="2834640"/>
            <a:ext cx="6699419" cy="3611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5 DE 9 • DESCOBERTA 1 (~90S)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Desempenho por Categorias: A Ilusão da Evasão Temática</a:t>
            </a:r>
          </a:p>
        </p:txBody>
      </p:sp>
      <p:sp>
        <p:nvSpPr>
          <p:cNvPr id="5" name="Rounded Rectangle 4"/>
          <p:cNvSpPr/>
          <p:nvPr/>
        </p:nvSpPr>
        <p:spPr>
          <a:xfrm>
            <a:off x="731520" y="1353312"/>
            <a:ext cx="5120640" cy="1115568"/>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42,6% Conclusão</a:t>
            </a:r>
          </a:p>
          <a:p>
            <a:pPr>
              <a:defRPr sz="1050" b="1">
                <a:solidFill>
                  <a:srgbClr val="10B981"/>
                </a:solidFill>
                <a:latin typeface="Arial"/>
              </a:defRPr>
            </a:pPr>
            <a:r>
              <a:t>Líder em Engajamento: DevOps &amp; Cloud</a:t>
            </a:r>
          </a:p>
          <a:p>
            <a:pPr>
              <a:defRPr sz="850">
                <a:solidFill>
                  <a:srgbClr val="94A3B8"/>
                </a:solidFill>
                <a:latin typeface="Arial"/>
              </a:defRPr>
            </a:pPr>
            <a:r>
              <a:t>141 interações • 26 conclusões • Alunos concluem pela aplicação prática imediata.</a:t>
            </a:r>
          </a:p>
        </p:txBody>
      </p:sp>
      <p:sp>
        <p:nvSpPr>
          <p:cNvPr id="6" name="Rounded Rectangle 5"/>
          <p:cNvSpPr/>
          <p:nvPr/>
        </p:nvSpPr>
        <p:spPr>
          <a:xfrm>
            <a:off x="6217920" y="1353312"/>
            <a:ext cx="5120640" cy="1115568"/>
          </a:xfrm>
          <a:prstGeom prst="roundRect">
            <a:avLst/>
          </a:prstGeom>
          <a:solidFill>
            <a:srgbClr val="1A2035"/>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13,2% Conclusão</a:t>
            </a:r>
          </a:p>
          <a:p>
            <a:pPr>
              <a:defRPr sz="1050" b="1">
                <a:solidFill>
                  <a:srgbClr val="F43F5E"/>
                </a:solidFill>
                <a:latin typeface="Arial"/>
              </a:defRPr>
            </a:pPr>
            <a:r>
              <a:t>Ponto Crítico: Segurança &amp; Governança</a:t>
            </a:r>
          </a:p>
          <a:p>
            <a:pPr>
              <a:defRPr sz="850">
                <a:solidFill>
                  <a:srgbClr val="94A3B8"/>
                </a:solidFill>
                <a:latin typeface="Arial"/>
              </a:defRPr>
            </a:pPr>
            <a:r>
              <a:t>195 min médios gastos • Menor término, mas nota altíssima de 4,68 estrelas.</a:t>
            </a:r>
          </a:p>
        </p:txBody>
      </p:sp>
      <p:sp>
        <p:nvSpPr>
          <p:cNvPr id="7" name="Rounded Rectangle 6"/>
          <p:cNvSpPr/>
          <p:nvPr/>
        </p:nvSpPr>
        <p:spPr>
          <a:xfrm>
            <a:off x="2361179" y="2624328"/>
            <a:ext cx="7439160" cy="3849624"/>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afico_categorias.png"/>
          <p:cNvPicPr>
            <a:picLocks noChangeAspect="1"/>
          </p:cNvPicPr>
          <p:nvPr/>
        </p:nvPicPr>
        <p:blipFill>
          <a:blip r:embed="rId2"/>
          <a:stretch>
            <a:fillRect/>
          </a:stretch>
        </p:blipFill>
        <p:spPr>
          <a:xfrm>
            <a:off x="2388611" y="2651760"/>
            <a:ext cx="7384296" cy="3794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6 DE 9 • O MAIOR INSIGHT (~90S)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O Formato Didático Define a Retenção do Aluno</a:t>
            </a:r>
          </a:p>
        </p:txBody>
      </p:sp>
      <p:sp>
        <p:nvSpPr>
          <p:cNvPr id="5" name="Rounded Rectangle 4"/>
          <p:cNvSpPr/>
          <p:nvPr/>
        </p:nvSpPr>
        <p:spPr>
          <a:xfrm>
            <a:off x="731520" y="1353312"/>
            <a:ext cx="5120640" cy="1115568"/>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61,54%</a:t>
            </a:r>
          </a:p>
          <a:p>
            <a:pPr>
              <a:defRPr sz="1050" b="1">
                <a:solidFill>
                  <a:srgbClr val="10B981"/>
                </a:solidFill>
                <a:latin typeface="Arial"/>
              </a:defRPr>
            </a:pPr>
            <a:r>
              <a:t>Campeão do Acervo: Podcast em Programação</a:t>
            </a:r>
          </a:p>
          <a:p>
            <a:pPr>
              <a:defRPr sz="850">
                <a:solidFill>
                  <a:srgbClr val="94A3B8"/>
                </a:solidFill>
                <a:latin typeface="Arial"/>
              </a:defRPr>
            </a:pPr>
            <a:r>
              <a:t>Maior taxa de conclusão absoluta de todo o dataset (28,8 min • CSAT 4,27)</a:t>
            </a:r>
          </a:p>
        </p:txBody>
      </p:sp>
      <p:sp>
        <p:nvSpPr>
          <p:cNvPr id="6" name="Rounded Rectangle 5"/>
          <p:cNvSpPr/>
          <p:nvPr/>
        </p:nvSpPr>
        <p:spPr>
          <a:xfrm>
            <a:off x="6217920" y="1353312"/>
            <a:ext cx="5120640" cy="1115568"/>
          </a:xfrm>
          <a:prstGeom prst="roundRect">
            <a:avLst/>
          </a:prstGeom>
          <a:solidFill>
            <a:srgbClr val="1A2035"/>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6,67%</a:t>
            </a:r>
          </a:p>
          <a:p>
            <a:pPr>
              <a:defRPr sz="1050" b="1">
                <a:solidFill>
                  <a:srgbClr val="F43F5E"/>
                </a:solidFill>
                <a:latin typeface="Arial"/>
              </a:defRPr>
            </a:pPr>
            <a:r>
              <a:t>Pior Gargalo: Vídeo em Segurança</a:t>
            </a:r>
          </a:p>
          <a:p>
            <a:pPr>
              <a:defRPr sz="850">
                <a:solidFill>
                  <a:srgbClr val="94A3B8"/>
                </a:solidFill>
                <a:latin typeface="Arial"/>
              </a:defRPr>
            </a:pPr>
            <a:r>
              <a:t>Apenas 1 conclusão para 15 inícios/views (Fadiga audiovisual extrema)</a:t>
            </a:r>
          </a:p>
        </p:txBody>
      </p:sp>
      <p:sp>
        <p:nvSpPr>
          <p:cNvPr id="7" name="Rounded Rectangle 6"/>
          <p:cNvSpPr/>
          <p:nvPr/>
        </p:nvSpPr>
        <p:spPr>
          <a:xfrm>
            <a:off x="1650355" y="2624328"/>
            <a:ext cx="8860808" cy="3849624"/>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afico_formatos.png"/>
          <p:cNvPicPr>
            <a:picLocks noChangeAspect="1"/>
          </p:cNvPicPr>
          <p:nvPr/>
        </p:nvPicPr>
        <p:blipFill>
          <a:blip r:embed="rId2"/>
          <a:stretch>
            <a:fillRect/>
          </a:stretch>
        </p:blipFill>
        <p:spPr>
          <a:xfrm>
            <a:off x="1677787" y="2651760"/>
            <a:ext cx="8805944" cy="3794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7 DE 9 • SAZONALIDADE (~60S)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Evolução Temporal e Comportamento de Consumo</a:t>
            </a:r>
          </a:p>
        </p:txBody>
      </p:sp>
      <p:sp>
        <p:nvSpPr>
          <p:cNvPr id="5" name="Rounded Rectangle 4"/>
          <p:cNvSpPr/>
          <p:nvPr/>
        </p:nvSpPr>
        <p:spPr>
          <a:xfrm>
            <a:off x="731520" y="1353312"/>
            <a:ext cx="3291840" cy="1115568"/>
          </a:xfrm>
          <a:prstGeom prst="roundRect">
            <a:avLst/>
          </a:prstGeom>
          <a:solidFill>
            <a:srgbClr val="1A20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234 Dias</a:t>
            </a:r>
          </a:p>
          <a:p>
            <a:pPr>
              <a:defRPr sz="1050" b="1">
                <a:solidFill>
                  <a:srgbClr val="38BDF8"/>
                </a:solidFill>
                <a:latin typeface="Arial"/>
              </a:defRPr>
            </a:pPr>
            <a:r>
              <a:t>Cobertura Cronológica</a:t>
            </a:r>
          </a:p>
          <a:p>
            <a:pPr>
              <a:defRPr sz="850">
                <a:solidFill>
                  <a:srgbClr val="94A3B8"/>
                </a:solidFill>
                <a:latin typeface="Arial"/>
              </a:defRPr>
            </a:pPr>
            <a:r>
              <a:t>Atividade contínua mapeada no ano letivo</a:t>
            </a:r>
          </a:p>
        </p:txBody>
      </p:sp>
      <p:sp>
        <p:nvSpPr>
          <p:cNvPr id="6" name="Rounded Rectangle 5"/>
          <p:cNvSpPr/>
          <p:nvPr/>
        </p:nvSpPr>
        <p:spPr>
          <a:xfrm>
            <a:off x="4389120" y="1353312"/>
            <a:ext cx="3291840" cy="1115568"/>
          </a:xfrm>
          <a:prstGeom prst="roundRect">
            <a:avLst/>
          </a:prstGeom>
          <a:solidFill>
            <a:srgbClr val="1A2035"/>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4,3 int./dia</a:t>
            </a:r>
          </a:p>
          <a:p>
            <a:pPr>
              <a:defRPr sz="1050" b="1">
                <a:solidFill>
                  <a:srgbClr val="6366F1"/>
                </a:solidFill>
                <a:latin typeface="Arial"/>
              </a:defRPr>
            </a:pPr>
            <a:r>
              <a:t>Ritmo Médio Estável</a:t>
            </a:r>
          </a:p>
          <a:p>
            <a:pPr>
              <a:defRPr sz="850">
                <a:solidFill>
                  <a:srgbClr val="94A3B8"/>
                </a:solidFill>
                <a:latin typeface="Arial"/>
              </a:defRPr>
            </a:pPr>
            <a:r>
              <a:t>Regularidade basal de estudo na plataforma</a:t>
            </a:r>
          </a:p>
        </p:txBody>
      </p:sp>
      <p:sp>
        <p:nvSpPr>
          <p:cNvPr id="7" name="Rounded Rectangle 6"/>
          <p:cNvSpPr/>
          <p:nvPr/>
        </p:nvSpPr>
        <p:spPr>
          <a:xfrm>
            <a:off x="8046720" y="1353312"/>
            <a:ext cx="3291840" cy="1115568"/>
          </a:xfrm>
          <a:prstGeom prst="round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Até 12 int.</a:t>
            </a:r>
          </a:p>
          <a:p>
            <a:pPr>
              <a:defRPr sz="1050" b="1">
                <a:solidFill>
                  <a:srgbClr val="F59E0B"/>
                </a:solidFill>
                <a:latin typeface="Arial"/>
              </a:defRPr>
            </a:pPr>
            <a:r>
              <a:t>Picos de Engajamento</a:t>
            </a:r>
          </a:p>
          <a:p>
            <a:pPr>
              <a:defRPr sz="850">
                <a:solidFill>
                  <a:srgbClr val="94A3B8"/>
                </a:solidFill>
                <a:latin typeface="Arial"/>
              </a:defRPr>
            </a:pPr>
            <a:r>
              <a:t>Concentração em entregas e novos módulos</a:t>
            </a:r>
          </a:p>
        </p:txBody>
      </p:sp>
      <p:sp>
        <p:nvSpPr>
          <p:cNvPr id="8" name="Rounded Rectangle 7"/>
          <p:cNvSpPr/>
          <p:nvPr/>
        </p:nvSpPr>
        <p:spPr>
          <a:xfrm>
            <a:off x="2054483" y="2624328"/>
            <a:ext cx="8052553" cy="3849624"/>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rafico_temporal.png"/>
          <p:cNvPicPr>
            <a:picLocks noChangeAspect="1"/>
          </p:cNvPicPr>
          <p:nvPr/>
        </p:nvPicPr>
        <p:blipFill>
          <a:blip r:embed="rId2"/>
          <a:stretch>
            <a:fillRect/>
          </a:stretch>
        </p:blipFill>
        <p:spPr>
          <a:xfrm>
            <a:off x="2081915" y="2651760"/>
            <a:ext cx="7997689" cy="3794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8 DE 9 • RIGOR TÉCNICO (~60S)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Desafios Técnicos Superados e Engenharia com IA</a:t>
            </a:r>
          </a:p>
        </p:txBody>
      </p:sp>
      <p:sp>
        <p:nvSpPr>
          <p:cNvPr id="5" name="Rounded Rectangle 4"/>
          <p:cNvSpPr/>
          <p:nvPr/>
        </p:nvSpPr>
        <p:spPr>
          <a:xfrm>
            <a:off x="731520" y="1463040"/>
            <a:ext cx="5120640" cy="2103120"/>
          </a:xfrm>
          <a:prstGeom prst="round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Erro de Coluna Temporal</a:t>
            </a:r>
          </a:p>
          <a:p>
            <a:pPr>
              <a:defRPr sz="1050" b="1">
                <a:solidFill>
                  <a:srgbClr val="F59E0B"/>
                </a:solidFill>
                <a:latin typeface="Arial"/>
              </a:defRPr>
            </a:pPr>
            <a:r>
              <a:t>Desafio no Apache Superset</a:t>
            </a:r>
          </a:p>
          <a:p>
            <a:pPr>
              <a:defRPr sz="850">
                <a:solidFill>
                  <a:srgbClr val="94A3B8"/>
                </a:solidFill>
                <a:latin typeface="Arial"/>
              </a:defRPr>
            </a:pPr>
            <a:r>
              <a:t>Ao configurar os gráficos de barras no Superset, o componente timeseries exigia campo de data obrigatório.</a:t>
            </a:r>
            <a:br/>
            <a:r>
              <a:t>• Diagnóstico: Views agregadas de categorias não possuem séries cronológicas.</a:t>
            </a:r>
            <a:br/>
            <a:r>
              <a:t>• Solução de Engenharia: Migração para o componente 'dist_bar' com reestruturação do payload JSON.</a:t>
            </a:r>
          </a:p>
        </p:txBody>
      </p:sp>
      <p:sp>
        <p:nvSpPr>
          <p:cNvPr id="6" name="Rounded Rectangle 5"/>
          <p:cNvSpPr/>
          <p:nvPr/>
        </p:nvSpPr>
        <p:spPr>
          <a:xfrm>
            <a:off x="6217920" y="1463040"/>
            <a:ext cx="5120640" cy="210312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Auditoria 100% Humana</a:t>
            </a:r>
          </a:p>
          <a:p>
            <a:pPr>
              <a:defRPr sz="1050" b="1">
                <a:solidFill>
                  <a:srgbClr val="10B981"/>
                </a:solidFill>
                <a:latin typeface="Arial"/>
              </a:defRPr>
            </a:pPr>
            <a:r>
              <a:t>Uso Responsável da IA (Seção 10)</a:t>
            </a:r>
          </a:p>
          <a:p>
            <a:pPr>
              <a:defRPr sz="850">
                <a:solidFill>
                  <a:srgbClr val="94A3B8"/>
                </a:solidFill>
                <a:latin typeface="Arial"/>
              </a:defRPr>
            </a:pPr>
            <a:r>
              <a:t>Utilizamos o modelo Gemini como parceiro de pair programming para acelerar queries e orquestração Docker.</a:t>
            </a:r>
            <a:br/>
            <a:r>
              <a:t>• Toda lógica SQL foi recalculada e validada manualmente pela equipe contra o PostgreSQL.</a:t>
            </a:r>
            <a:br/>
            <a:r>
              <a:t>• Fórmulas de taxa de conclusão protegidas contra divisão por zero via NULLIF.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none">
            <a:spAutoFit/>
          </a:bodyPr>
          <a:lstStyle/>
          <a:p>
            <a:pPr>
              <a:defRPr sz="1000" b="1">
                <a:solidFill>
                  <a:srgbClr val="38BDF8"/>
                </a:solidFill>
                <a:latin typeface="Arial"/>
              </a:defRPr>
            </a:pPr>
            <a:r>
              <a:t>SLIDE 9 DE 9 • FECHAMENTO (~60S)</a:t>
            </a:r>
          </a:p>
        </p:txBody>
      </p:sp>
      <p:sp>
        <p:nvSpPr>
          <p:cNvPr id="4" name="TextBox 3"/>
          <p:cNvSpPr txBox="1"/>
          <p:nvPr/>
        </p:nvSpPr>
        <p:spPr>
          <a:xfrm>
            <a:off x="731520" y="621792"/>
            <a:ext cx="10698480" cy="640080"/>
          </a:xfrm>
          <a:prstGeom prst="rect">
            <a:avLst/>
          </a:prstGeom>
          <a:noFill/>
        </p:spPr>
        <p:txBody>
          <a:bodyPr wrap="none">
            <a:spAutoFit/>
          </a:bodyPr>
          <a:lstStyle/>
          <a:p>
            <a:pPr>
              <a:defRPr sz="2100" b="1">
                <a:solidFill>
                  <a:srgbClr val="F8FAFC"/>
                </a:solidFill>
                <a:latin typeface="Arial"/>
              </a:defRPr>
            </a:pPr>
            <a:r>
              <a:t>Recomendações Estratégicas para a Instituição</a:t>
            </a:r>
          </a:p>
        </p:txBody>
      </p:sp>
      <p:sp>
        <p:nvSpPr>
          <p:cNvPr id="5" name="Rounded Rectangle 4"/>
          <p:cNvSpPr/>
          <p:nvPr/>
        </p:nvSpPr>
        <p:spPr>
          <a:xfrm>
            <a:off x="731520" y="1463040"/>
            <a:ext cx="3291840" cy="2194560"/>
          </a:xfrm>
          <a:prstGeom prst="round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Priorizar Formatos Ágeis</a:t>
            </a:r>
          </a:p>
          <a:p>
            <a:pPr>
              <a:defRPr sz="1050" b="1">
                <a:solidFill>
                  <a:srgbClr val="10B981"/>
                </a:solidFill>
                <a:latin typeface="Arial"/>
              </a:defRPr>
            </a:pPr>
            <a:r>
              <a:t>Ação 1: Produção Didática</a:t>
            </a:r>
          </a:p>
          <a:p>
            <a:pPr>
              <a:defRPr sz="850">
                <a:solidFill>
                  <a:srgbClr val="94A3B8"/>
                </a:solidFill>
                <a:latin typeface="Arial"/>
              </a:defRPr>
            </a:pPr>
            <a:r>
              <a:t>Expandir acervo de Vídeos práticos e Podcasts em DevOps e Programação, que provaram atingir até 61,5% de conclusão.</a:t>
            </a:r>
          </a:p>
        </p:txBody>
      </p:sp>
      <p:sp>
        <p:nvSpPr>
          <p:cNvPr id="6" name="Rounded Rectangle 5"/>
          <p:cNvSpPr/>
          <p:nvPr/>
        </p:nvSpPr>
        <p:spPr>
          <a:xfrm>
            <a:off x="4389120" y="1463040"/>
            <a:ext cx="3291840" cy="2194560"/>
          </a:xfrm>
          <a:prstGeom prst="round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Reformular Segurança</a:t>
            </a:r>
          </a:p>
          <a:p>
            <a:pPr>
              <a:defRPr sz="1050" b="1">
                <a:solidFill>
                  <a:srgbClr val="F59E0B"/>
                </a:solidFill>
                <a:latin typeface="Arial"/>
              </a:defRPr>
            </a:pPr>
            <a:r>
              <a:t>Ação 2: Intervenção Urgente</a:t>
            </a:r>
          </a:p>
          <a:p>
            <a:pPr>
              <a:defRPr sz="850">
                <a:solidFill>
                  <a:srgbClr val="94A3B8"/>
                </a:solidFill>
                <a:latin typeface="Arial"/>
              </a:defRPr>
            </a:pPr>
            <a:r>
              <a:t>Quebrar os cursos densos e vídeos longos de Segurança &amp; Governança em microlearning de 15 minutos e estudos de caso.</a:t>
            </a:r>
          </a:p>
        </p:txBody>
      </p:sp>
      <p:sp>
        <p:nvSpPr>
          <p:cNvPr id="7" name="Rounded Rectangle 6"/>
          <p:cNvSpPr/>
          <p:nvPr/>
        </p:nvSpPr>
        <p:spPr>
          <a:xfrm>
            <a:off x="8046720" y="1463040"/>
            <a:ext cx="3291840" cy="2194560"/>
          </a:xfrm>
          <a:prstGeom prst="roundRect">
            <a:avLst/>
          </a:prstGeom>
          <a:solidFill>
            <a:srgbClr val="1A20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2000" b="1">
                <a:solidFill>
                  <a:srgbClr val="F8FAFC"/>
                </a:solidFill>
                <a:latin typeface="Arial"/>
              </a:defRPr>
            </a:pPr>
            <a:r>
              <a:t>Retenção Preditiva</a:t>
            </a:r>
          </a:p>
          <a:p>
            <a:pPr>
              <a:defRPr sz="1050" b="1">
                <a:solidFill>
                  <a:srgbClr val="38BDF8"/>
                </a:solidFill>
                <a:latin typeface="Arial"/>
              </a:defRPr>
            </a:pPr>
            <a:r>
              <a:t>Ação 3: Ativação da IA</a:t>
            </a:r>
          </a:p>
          <a:p>
            <a:pPr>
              <a:defRPr sz="850">
                <a:solidFill>
                  <a:srgbClr val="94A3B8"/>
                </a:solidFill>
                <a:latin typeface="Arial"/>
              </a:defRPr>
            </a:pPr>
            <a:r>
              <a:t>Acionar o motor de recomendação vetorial (78% de alta afinidade) para sugerir novos passos antes que o aluno evada.</a:t>
            </a:r>
          </a:p>
        </p:txBody>
      </p:sp>
      <p:sp>
        <p:nvSpPr>
          <p:cNvPr id="8" name="Rounded Rectangle 7"/>
          <p:cNvSpPr/>
          <p:nvPr/>
        </p:nvSpPr>
        <p:spPr>
          <a:xfrm>
            <a:off x="731520" y="3931920"/>
            <a:ext cx="10607040" cy="1554480"/>
          </a:xfrm>
          <a:prstGeom prst="roundRect">
            <a:avLst/>
          </a:prstGeom>
          <a:solidFill>
            <a:srgbClr val="1A2035"/>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defRPr sz="1800" b="1">
                <a:solidFill>
                  <a:srgbClr val="F8FAFC"/>
                </a:solidFill>
                <a:latin typeface="Arial"/>
              </a:defRPr>
            </a:pPr>
            <a:r>
              <a:t>Pipeline 100% Validado de Ponta a Ponta</a:t>
            </a:r>
          </a:p>
          <a:p>
            <a:pPr>
              <a:defRPr sz="1050" b="1">
                <a:solidFill>
                  <a:srgbClr val="6366F1"/>
                </a:solidFill>
                <a:latin typeface="Arial"/>
              </a:defRPr>
            </a:pPr>
            <a:r>
              <a:t>Prontos para a Arguição da Banca</a:t>
            </a:r>
          </a:p>
          <a:p>
            <a:pPr>
              <a:defRPr sz="850">
                <a:solidFill>
                  <a:srgbClr val="94A3B8"/>
                </a:solidFill>
                <a:latin typeface="Arial"/>
              </a:defRPr>
            </a:pPr>
            <a:r>
              <a:t>PostgreSQL + pgvector • MongoDB • Apache Superset operando com dados reais e 10 visões analíticas interativas.</a:t>
            </a:r>
          </a:p>
        </p:txBody>
      </p:sp>
      <p:sp>
        <p:nvSpPr>
          <p:cNvPr id="9" name="TextBox 8"/>
          <p:cNvSpPr txBox="1"/>
          <p:nvPr/>
        </p:nvSpPr>
        <p:spPr>
          <a:xfrm>
            <a:off x="731520" y="5715000"/>
            <a:ext cx="10607040" cy="411480"/>
          </a:xfrm>
          <a:prstGeom prst="rect">
            <a:avLst/>
          </a:prstGeom>
          <a:noFill/>
        </p:spPr>
        <p:txBody>
          <a:bodyPr wrap="none">
            <a:spAutoFit/>
          </a:bodyPr>
          <a:lstStyle/>
          <a:p>
            <a:r>
              <a:rPr sz="1100" b="1">
                <a:solidFill>
                  <a:srgbClr val="38BDF8"/>
                </a:solidFill>
                <a:latin typeface="Arial"/>
                <a:hlinkClick r:id="rId2"/>
              </a:rPr>
              <a:t>📊 Superset: http://localhost:8088/superset/dashboard/1/    |    📑 Apresentação Web: http://localhost:8085/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